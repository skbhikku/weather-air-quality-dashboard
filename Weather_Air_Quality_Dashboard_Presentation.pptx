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80" y="-640080"/>
            <a:ext cx="4023360" cy="4023360"/>
          </a:xfrm>
          <a:prstGeom prst="ellipse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228600"/>
            <a:ext cx="2468880" cy="2468880"/>
          </a:xfrm>
          <a:prstGeom prst="ellipse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85248" y="749808"/>
            <a:ext cx="1417320" cy="1417320"/>
          </a:xfrm>
          <a:prstGeom prst="ellipse">
            <a:avLst/>
          </a:prstGeom>
          <a:solidFill>
            <a:srgbClr val="0F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4069080"/>
            <a:ext cx="2834640" cy="2834640"/>
          </a:xfrm>
          <a:prstGeom prst="ellipse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24BEB1"/>
                </a:solidFill>
                <a:latin typeface="Aptos"/>
              </a:defRPr>
            </a:pPr>
            <a:r>
              <a:t>COMPUTATIONAL THINKING &amp; PROGRAMMING  |  TRIMESTER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786384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400" b="1">
                <a:solidFill>
                  <a:srgbClr val="F6F9FC"/>
                </a:solidFill>
                <a:latin typeface="Aptos"/>
              </a:defRPr>
            </a:pPr>
            <a:r>
              <a:t>Weather &amp; Air</a:t>
            </a:r>
            <a:br/>
            <a:r>
              <a:t>Quality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70408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0">
                <a:solidFill>
                  <a:srgbClr val="B4C3D5"/>
                </a:solidFill>
                <a:latin typeface="Aptos"/>
              </a:defRPr>
            </a:pPr>
            <a:r>
              <a:t>Live weather, forecast and air-pollution data in one simple web application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4315968"/>
            <a:ext cx="1051560" cy="54864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7132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6F9FC"/>
                </a:solidFill>
                <a:latin typeface="Aptos"/>
              </a:defRPr>
            </a:pPr>
            <a:r>
              <a:t>Shaik Bhikku Saheb  •  Student ID: 2601150060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7040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B4C3D5"/>
                </a:solidFill>
                <a:latin typeface="Aptos"/>
              </a:defRPr>
            </a:pPr>
            <a:r>
              <a:t>M.Tech — Artificial Intelligence &amp; Data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7040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B4C3D5"/>
                </a:solidFill>
                <a:latin typeface="Aptos"/>
              </a:defRPr>
            </a:pPr>
            <a:r>
              <a:t>Supervisor: Dr. G. Syam Prasad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80760"/>
            <a:ext cx="7772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B4C3D5"/>
                </a:solidFill>
                <a:latin typeface="Aptos"/>
              </a:defRPr>
            </a:pPr>
            <a:r>
              <a:t>K L University  |  Academic Year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4BEB1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6F9FC"/>
                </a:solidFill>
                <a:latin typeface="Aptos"/>
              </a:defRPr>
            </a:pPr>
            <a:r>
              <a:t>The problem we're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Weather and air-quality information can be scattered across different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1005840" cy="4114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4C3D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474720" cy="233172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64008" cy="2331720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4BEB1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70632"/>
            <a:ext cx="3090672" cy="1600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F6F9FC"/>
                </a:solidFill>
                <a:latin typeface="Aptos"/>
              </a:defRPr>
            </a:pPr>
            <a:r>
              <a:t>Users may need multiple pages to understand current weather, forecast changes and pollution levels.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48840"/>
            <a:ext cx="3474720" cy="233172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148840"/>
            <a:ext cx="64008" cy="2331720"/>
          </a:xfrm>
          <a:prstGeom prst="rect">
            <a:avLst/>
          </a:prstGeom>
          <a:solidFill>
            <a:srgbClr val="6B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04288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6BDCE6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70632"/>
            <a:ext cx="3090672" cy="1600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F6F9FC"/>
                </a:solidFill>
                <a:latin typeface="Aptos"/>
              </a:defRPr>
            </a:pPr>
            <a:r>
              <a:t>Bring available weather and air-quality measurements into one searchable dashboard.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148840"/>
            <a:ext cx="3429000" cy="233172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2148840"/>
            <a:ext cx="64008" cy="2331720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304288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B15C"/>
                </a:solidFill>
                <a:latin typeface="Aptos"/>
              </a:defRPr>
            </a:pPr>
            <a:r>
              <a:t>THE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770632"/>
            <a:ext cx="3044952" cy="16001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6F9FC"/>
                </a:solidFill>
                <a:latin typeface="Aptos"/>
              </a:defRPr>
            </a:pPr>
            <a:r>
              <a:t>A compact, explainable project demonstrating APIs, data handling and browser–server communication.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B4C3D5"/>
                </a:solidFill>
                <a:latin typeface="Aptos"/>
              </a:defRPr>
            </a:pPr>
            <a:r>
              <a:t>Project scope: educational demonstration — not an official environmental monitoring service or medical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4BEB1"/>
                </a:solidFill>
                <a:latin typeface="Aptos"/>
              </a:defRPr>
            </a:pPr>
            <a:r>
              <a:t>02 •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6F9FC"/>
                </a:solidFill>
                <a:latin typeface="Aptos"/>
              </a:defRPr>
            </a:pPr>
            <a:r>
              <a:t>What the dashboard aims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Functional goals drawn from the submitted project report.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1005840" cy="4114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4C3D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520440" cy="1353312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64008" cy="1353312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258568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4BEB1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24912"/>
            <a:ext cx="313639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Accept and validate a city name.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03120"/>
            <a:ext cx="3520440" cy="1353312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103120"/>
            <a:ext cx="64008" cy="1353312"/>
          </a:xfrm>
          <a:prstGeom prst="rect">
            <a:avLst/>
          </a:prstGeom>
          <a:solidFill>
            <a:srgbClr val="6B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258568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6BDCE6"/>
                </a:solidFill>
                <a:latin typeface="Aptos"/>
              </a:defRPr>
            </a:pPr>
            <a:r>
              <a:t>Resolve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724912"/>
            <a:ext cx="313639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Convert the city into latitude and longitude.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103120"/>
            <a:ext cx="3520440" cy="1353312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2103120"/>
            <a:ext cx="64008" cy="1353312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2258568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B15C"/>
                </a:solidFill>
                <a:latin typeface="Aptos"/>
              </a:defRPr>
            </a:pPr>
            <a:r>
              <a:t>Retrieve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724912"/>
            <a:ext cx="313639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Fetch current weather, forecast and available air-quality values.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94760"/>
            <a:ext cx="3520440" cy="1353312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794760"/>
            <a:ext cx="64008" cy="1353312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950208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4BEB1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416552"/>
            <a:ext cx="313639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Display readings, forecast cards and charts.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794760"/>
            <a:ext cx="3520440" cy="1353312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794760"/>
            <a:ext cx="64008" cy="1353312"/>
          </a:xfrm>
          <a:prstGeom prst="rect">
            <a:avLst/>
          </a:prstGeom>
          <a:solidFill>
            <a:srgbClr val="6B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3950208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6BDCE6"/>
                </a:solidFill>
                <a:latin typeface="Aptos"/>
              </a:defRPr>
            </a:pPr>
            <a:r>
              <a:t>Handle errors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416552"/>
            <a:ext cx="313639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Show clear messages for invalid input, missing fields or service failures.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794760"/>
            <a:ext cx="3520440" cy="1353312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3794760"/>
            <a:ext cx="64008" cy="1353312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3950208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B15C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4416552"/>
            <a:ext cx="313639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Check core functions and negative scenarios.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4BEB1"/>
                </a:solidFill>
                <a:latin typeface="Aptos"/>
              </a:defRPr>
            </a:pPr>
            <a:r>
              <a:t>03 •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6F9FC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A lightweight Python web application with a single-page browser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1005840" cy="4114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4C3D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3383280" cy="237744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64008" cy="2377440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4BEB1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24912"/>
            <a:ext cx="2999232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6F9FC"/>
                </a:solidFill>
                <a:latin typeface="Aptos"/>
              </a:defRPr>
            </a:pPr>
            <a:r>
              <a:t>Python</a:t>
            </a:r>
            <a:br/>
            <a:r>
              <a:t>Flask routes</a:t>
            </a:r>
            <a:br/>
            <a:r>
              <a:t>Requests library</a:t>
            </a:r>
            <a:br/>
            <a:r>
              <a:t>Input validation &amp; normalization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103120"/>
            <a:ext cx="3383280" cy="237744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2103120"/>
            <a:ext cx="64008" cy="2377440"/>
          </a:xfrm>
          <a:prstGeom prst="rect">
            <a:avLst/>
          </a:prstGeom>
          <a:solidFill>
            <a:srgbClr val="6B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258568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6BDCE6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724912"/>
            <a:ext cx="2999232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6F9FC"/>
                </a:solidFill>
                <a:latin typeface="Aptos"/>
              </a:defRPr>
            </a:pPr>
            <a:r>
              <a:t>HTML structure</a:t>
            </a:r>
            <a:br/>
            <a:r>
              <a:t>CSS styling</a:t>
            </a:r>
            <a:br/>
            <a:r>
              <a:t>JavaScript interactions</a:t>
            </a:r>
            <a:br/>
            <a:r>
              <a:t>Cards, forecast and charts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2103120"/>
            <a:ext cx="3383280" cy="237744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2103120"/>
            <a:ext cx="64008" cy="2377440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258568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B15C"/>
                </a:solidFill>
                <a:latin typeface="Aptos"/>
              </a:defRPr>
            </a:pPr>
            <a:r>
              <a:t>DATA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724912"/>
            <a:ext cx="2999232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6F9FC"/>
                </a:solidFill>
                <a:latin typeface="Aptos"/>
              </a:defRPr>
            </a:pPr>
            <a:r>
              <a:t>Open-Meteo Geocoding API</a:t>
            </a:r>
            <a:br/>
            <a:r>
              <a:t>Weather Forecast API</a:t>
            </a:r>
            <a:br/>
            <a:r>
              <a:t>Air Quality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B4C3D5"/>
                </a:solidFill>
                <a:latin typeface="Aptos"/>
              </a:defRPr>
            </a:pPr>
            <a:r>
              <a:t>Testing tools proposed in the report: pytest for automated tests and Ruff for linting/formatting.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4BEB1"/>
                </a:solidFill>
                <a:latin typeface="Aptos"/>
              </a:defRPr>
            </a:pPr>
            <a:r>
              <a:t>04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6F9FC"/>
                </a:solidFill>
                <a:latin typeface="Aptos"/>
              </a:defRPr>
            </a:pPr>
            <a:r>
              <a:t>How the system is connected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Browser → Flask → external APIs → normalized JSON → dashboard rendering.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1005840" cy="4114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4C3D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1673352" cy="150876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670048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24BEB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63240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6F9FC"/>
                </a:solidFill>
                <a:latin typeface="Aptos"/>
              </a:defRPr>
            </a:pPr>
            <a:r>
              <a:t>USER /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566160"/>
            <a:ext cx="1463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B4C3D5"/>
                </a:solidFill>
                <a:latin typeface="Aptos"/>
              </a:defRPr>
            </a:pPr>
            <a:r>
              <a:t>Search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063240"/>
            <a:ext cx="228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24BEB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8" y="2514600"/>
            <a:ext cx="1673352" cy="150876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2670048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24BEB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3063240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6F9FC"/>
                </a:solidFill>
                <a:latin typeface="Aptos"/>
              </a:defRPr>
            </a:pPr>
            <a:r>
              <a:t>HTML + 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3566160"/>
            <a:ext cx="1463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B4C3D5"/>
                </a:solidFill>
                <a:latin typeface="Aptos"/>
              </a:defRPr>
            </a:pPr>
            <a:r>
              <a:t>Send GET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3063240"/>
            <a:ext cx="228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24BEB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71416" y="2514600"/>
            <a:ext cx="1673352" cy="150876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2670048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24BEB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063240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6F9FC"/>
                </a:solidFill>
                <a:latin typeface="Aptos"/>
              </a:defRPr>
            </a:pPr>
            <a:r>
              <a:t>FLASK / 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3566160"/>
            <a:ext cx="1463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B4C3D5"/>
                </a:solidFill>
                <a:latin typeface="Aptos"/>
              </a:defRPr>
            </a:pPr>
            <a:r>
              <a:t>Validate &amp; coordinate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3063240"/>
            <a:ext cx="228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24BEB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9944" y="2514600"/>
            <a:ext cx="1673352" cy="150876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670048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24BEB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063240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6F9FC"/>
                </a:solidFill>
                <a:latin typeface="Aptos"/>
              </a:defRPr>
            </a:pPr>
            <a:r>
              <a:t>OPEN-METEO APIs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566160"/>
            <a:ext cx="1463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B4C3D5"/>
                </a:solidFill>
                <a:latin typeface="Aptos"/>
              </a:defRPr>
            </a:pPr>
            <a:r>
              <a:t>Geocode + fetch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4" y="3063240"/>
            <a:ext cx="228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24BEB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48472" y="2514600"/>
            <a:ext cx="1673352" cy="150876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670048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24BEB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063240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6F9FC"/>
                </a:solidFill>
                <a:latin typeface="Aptos"/>
              </a:defRPr>
            </a:pPr>
            <a:r>
              <a:t>JSON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566160"/>
            <a:ext cx="1463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B4C3D5"/>
                </a:solidFill>
                <a:latin typeface="Aptos"/>
              </a:defRPr>
            </a:pPr>
            <a:r>
              <a:t>Normalize fields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2" y="3063240"/>
            <a:ext cx="228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24BEB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7000" y="2514600"/>
            <a:ext cx="1673352" cy="150876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96728" y="2670048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24BEB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96728" y="3063240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6F9FC"/>
                </a:solidFill>
                <a:latin typeface="Aptos"/>
              </a:defRPr>
            </a:pPr>
            <a:r>
              <a:t>DASHBOARD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96728" y="3566160"/>
            <a:ext cx="1463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B4C3D5"/>
                </a:solidFill>
                <a:latin typeface="Aptos"/>
              </a:defRPr>
            </a:pPr>
            <a:r>
              <a:t>Update cards &amp; charts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6BDCE6"/>
                </a:solidFill>
                <a:latin typeface="Aptos"/>
              </a:defRPr>
            </a:pPr>
            <a:r>
              <a:t>Main endpoint:  GET /api/dashboard?city=...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30352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B4C3D5"/>
                </a:solidFill>
                <a:latin typeface="Aptos"/>
              </a:defRPr>
            </a:pPr>
            <a:r>
              <a:t>Flask serves the page and returns combined city data as JSON; the browser handles display and interaction.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4BEB1"/>
                </a:solidFill>
                <a:latin typeface="Aptos"/>
              </a:defRPr>
            </a:pPr>
            <a:r>
              <a:t>05 •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6F9FC"/>
                </a:solidFill>
                <a:latin typeface="Aptos"/>
              </a:defRPr>
            </a:pPr>
            <a:r>
              <a:t>From city search to live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A predictable request–response flow with explicit error handling.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1005840" cy="4114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4C3D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4846320" cy="603504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21991"/>
            <a:ext cx="45262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1  User enters a 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44368"/>
            <a:ext cx="4846320" cy="603504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63239"/>
            <a:ext cx="45262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2  JavaScript shows loading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85615"/>
            <a:ext cx="4846320" cy="603504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04487"/>
            <a:ext cx="45262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3  Python validates the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26864"/>
            <a:ext cx="4846320" cy="603504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745736"/>
            <a:ext cx="45262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4  Geocoding returns coordinates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03120"/>
            <a:ext cx="4846320" cy="603504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221991"/>
            <a:ext cx="45262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5  Weather and air-quality APIs are called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44368"/>
            <a:ext cx="4846320" cy="603504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063239"/>
            <a:ext cx="45262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6  Response fields are checked and normalized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85615"/>
            <a:ext cx="4846320" cy="603504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904487"/>
            <a:ext cx="45262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7  JSON is returned to the browser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626864"/>
            <a:ext cx="4846320" cy="603504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745736"/>
            <a:ext cx="45262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8  Cards, forecast and charts are rendered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FFB15C"/>
                </a:solidFill>
                <a:latin typeface="Aptos"/>
              </a:defRPr>
            </a:pPr>
            <a:r>
              <a:t>If a required service fails, return a clear error response instead of misleading or fabricated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4BEB1"/>
                </a:solidFill>
                <a:latin typeface="Aptos"/>
              </a:defRPr>
            </a:pPr>
            <a:r>
              <a:t>06 •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6F9FC"/>
                </a:solidFill>
                <a:latin typeface="Aptos"/>
              </a:defRPr>
            </a:pPr>
            <a:r>
              <a:t>What users can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Only fields available from the selected location and data provider should be displayed.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1005840" cy="4114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4C3D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0835640" cy="356616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6BDCE6"/>
                </a:solidFill>
                <a:latin typeface="Aptos"/>
              </a:defRPr>
            </a:pPr>
            <a:r>
              <a:t>📍  CITY SEARCH  •  Example layout (illustrative)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2286000" cy="1024128"/>
          </a:xfrm>
          <a:prstGeom prst="roundRect">
            <a:avLst/>
          </a:prstGeom>
          <a:solidFill>
            <a:srgbClr val="0F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26080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B4C3D5"/>
                </a:solidFill>
                <a:latin typeface="Aptos"/>
              </a:defRPr>
            </a:pPr>
            <a:r>
              <a:t>TEMPERATURE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4612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1">
                <a:solidFill>
                  <a:srgbClr val="F6F9FC"/>
                </a:solidFill>
                <a:latin typeface="Aptos"/>
              </a:defRPr>
            </a:pPr>
            <a:r>
              <a:t>--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788920"/>
            <a:ext cx="2286000" cy="1024128"/>
          </a:xfrm>
          <a:prstGeom prst="roundRect">
            <a:avLst/>
          </a:prstGeom>
          <a:solidFill>
            <a:srgbClr val="0F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2926080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B4C3D5"/>
                </a:solidFill>
                <a:latin typeface="Aptos"/>
              </a:defRPr>
            </a:pPr>
            <a:r>
              <a:t>FEELS LIKE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324612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1">
                <a:solidFill>
                  <a:srgbClr val="F6F9FC"/>
                </a:solidFill>
                <a:latin typeface="Aptos"/>
              </a:defRPr>
            </a:pPr>
            <a:r>
              <a:t>-- °C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788920"/>
            <a:ext cx="2286000" cy="1024128"/>
          </a:xfrm>
          <a:prstGeom prst="roundRect">
            <a:avLst/>
          </a:prstGeom>
          <a:solidFill>
            <a:srgbClr val="0F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926080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B4C3D5"/>
                </a:solidFill>
                <a:latin typeface="Aptos"/>
              </a:defRPr>
            </a:pPr>
            <a:r>
              <a:t>HUMIDITY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24612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1">
                <a:solidFill>
                  <a:srgbClr val="F6F9FC"/>
                </a:solidFill>
                <a:latin typeface="Aptos"/>
              </a:defRPr>
            </a:pPr>
            <a:r>
              <a:t>--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59" y="2788920"/>
            <a:ext cx="2286000" cy="1024128"/>
          </a:xfrm>
          <a:prstGeom prst="roundRect">
            <a:avLst/>
          </a:prstGeom>
          <a:solidFill>
            <a:srgbClr val="0F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19" y="2926080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B4C3D5"/>
                </a:solidFill>
                <a:latin typeface="Aptos"/>
              </a:defRPr>
            </a:pPr>
            <a:r>
              <a:t>WIND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324612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100" b="1">
                <a:solidFill>
                  <a:srgbClr val="F6F9FC"/>
                </a:solidFill>
                <a:latin typeface="Aptos"/>
              </a:defRPr>
            </a:pPr>
            <a:r>
              <a:t>-- km/h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069080"/>
            <a:ext cx="4663440" cy="1143000"/>
          </a:xfrm>
          <a:prstGeom prst="roundRect">
            <a:avLst/>
          </a:prstGeom>
          <a:solidFill>
            <a:srgbClr val="0F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224528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24BEB1"/>
                </a:solidFill>
                <a:latin typeface="Aptos"/>
              </a:defRPr>
            </a:pPr>
            <a:r>
              <a:t>AIR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72000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6F9FC"/>
                </a:solidFill>
                <a:latin typeface="Aptos"/>
              </a:defRPr>
            </a:pPr>
            <a:r>
              <a:t>AQI: --   •   PM2.5: --   •   PM10: --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4069080"/>
            <a:ext cx="4846320" cy="1143000"/>
          </a:xfrm>
          <a:prstGeom prst="roundRect">
            <a:avLst/>
          </a:prstGeom>
          <a:solidFill>
            <a:srgbClr val="0F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4224528"/>
            <a:ext cx="4297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FFB15C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57200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Daily high / low • Weather conditions • Charts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852160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B4C3D5"/>
                </a:solidFill>
                <a:latin typeface="Aptos"/>
              </a:defRPr>
            </a:pPr>
            <a:r>
              <a:t>Mockup only — placeholders are not live measurements or actual execution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4BEB1"/>
                </a:solidFill>
                <a:latin typeface="Aptos"/>
              </a:defRPr>
            </a:pPr>
            <a:r>
              <a:t>07 • COMPUTATIONAL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6F9FC"/>
                </a:solidFill>
                <a:latin typeface="Aptos"/>
              </a:defRPr>
            </a:pPr>
            <a:r>
              <a:t>Break the problem into manageable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The core challenge is data retrieval and presentation, not complex optimization.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1005840" cy="4114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4C3D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429000" cy="214884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64008" cy="2148840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4BEB1"/>
                </a:solidFill>
                <a:latin typeface="Aptos"/>
              </a:defRPr>
            </a:pPr>
            <a:r>
              <a:t>DECOMPOSITION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70632"/>
            <a:ext cx="3044952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City lookup</a:t>
            </a:r>
            <a:br/>
            <a:r>
              <a:t>Weather retrieval</a:t>
            </a:r>
            <a:br/>
            <a:r>
              <a:t>Air-quality retrieval</a:t>
            </a:r>
            <a:br/>
            <a:r>
              <a:t>Normalization</a:t>
            </a:r>
            <a:br/>
            <a:r>
              <a:t>Browser rendering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29000" cy="214884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64008" cy="2148840"/>
          </a:xfrm>
          <a:prstGeom prst="rect">
            <a:avLst/>
          </a:prstGeom>
          <a:solidFill>
            <a:srgbClr val="6B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304288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6BDCE6"/>
                </a:solidFill>
                <a:latin typeface="Aptos"/>
              </a:defRPr>
            </a:pPr>
            <a:r>
              <a:t>ABSTRACTION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70632"/>
            <a:ext cx="3044952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6F9FC"/>
                </a:solidFill>
                <a:latin typeface="Aptos"/>
              </a:defRPr>
            </a:pPr>
            <a:r>
              <a:t>Represent a location with a name and coordinates; treat API responses as structured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429000" cy="214884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48840"/>
            <a:ext cx="64008" cy="2148840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304288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B15C"/>
                </a:solidFill>
                <a:latin typeface="Aptos"/>
              </a:defRPr>
            </a:pPr>
            <a:r>
              <a:t>ALGORITHM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770632"/>
            <a:ext cx="3044952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6F9FC"/>
                </a:solidFill>
                <a:latin typeface="Aptos"/>
              </a:defRPr>
            </a:pPr>
            <a:r>
              <a:t>Use specialized geocoding and data APIs; normalize results into a stable response shape.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10698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B4C3D5"/>
                </a:solidFill>
                <a:latin typeface="Aptos"/>
              </a:defRPr>
            </a:pPr>
            <a:r>
              <a:t>Complexity: city validation O(C), normalization O(F), forecast rendering O(D). Network latency usually dominates.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4BEB1"/>
                </a:solidFill>
                <a:latin typeface="Aptos"/>
              </a:defRPr>
            </a:pPr>
            <a:r>
              <a:t>08 •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6F9FC"/>
                </a:solidFill>
                <a:latin typeface="Aptos"/>
              </a:defRPr>
            </a:pPr>
            <a:r>
              <a:t>Data structures &amp; safe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Python functions keep the application modular and easier to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1005840" cy="4114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4C3D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2743200" cy="438912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30552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24BEB1"/>
                </a:solidFill>
                <a:latin typeface="Aptos"/>
              </a:defRPr>
            </a:pPr>
            <a:r>
              <a:t>Dictionary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30552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Named fields in the normalized API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33472"/>
            <a:ext cx="2743200" cy="438912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706624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24BEB1"/>
                </a:solidFill>
                <a:latin typeface="Aptos"/>
              </a:defRPr>
            </a:pPr>
            <a:r>
              <a:t>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06624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Ordered daily forecast entries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09544"/>
            <a:ext cx="2743200" cy="438912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82696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24BEB1"/>
                </a:solidFill>
                <a:latin typeface="Aptos"/>
              </a:defRPr>
            </a:pPr>
            <a:r>
              <a:t>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82696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City names and display labels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85616"/>
            <a:ext cx="2743200" cy="438912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858768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24BEB1"/>
                </a:solidFill>
                <a:latin typeface="Aptos"/>
              </a:defRPr>
            </a:pPr>
            <a:r>
              <a:t>Float / integer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858768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Weather and pollutant measurements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61688"/>
            <a:ext cx="2743200" cy="438912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434840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24BEB1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434840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Validation, retrieval and transformation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37760"/>
            <a:ext cx="2743200" cy="438912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010912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24BEB1"/>
                </a:solidFill>
                <a:latin typeface="Aptos"/>
              </a:defRPr>
            </a:pPr>
            <a:r>
              <a:t>Exceptions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010912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Input errors and service failures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0644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B4C3D5"/>
                </a:solidFill>
                <a:latin typeface="Aptos"/>
              </a:defRPr>
            </a:pPr>
            <a:r>
              <a:t>Type hints, explicit optional-field checks, request timeouts and JSON serialization improve clarity and resilience.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4BEB1"/>
                </a:solidFill>
                <a:latin typeface="Aptos"/>
              </a:defRPr>
            </a:pPr>
            <a:r>
              <a:t>09 •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6F9FC"/>
                </a:solidFill>
                <a:latin typeface="Aptos"/>
              </a:defRPr>
            </a:pPr>
            <a:r>
              <a:t>Normalize before displaying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The browser should receive predictable fields and never invent missing measurements.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1005840" cy="4114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4C3D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43200"/>
            <a:ext cx="1645920" cy="1024128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743200"/>
            <a:ext cx="1645920" cy="6400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3017520"/>
            <a:ext cx="1426464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00" b="1">
                <a:solidFill>
                  <a:srgbClr val="F6F9FC"/>
                </a:solidFill>
                <a:latin typeface="Aptos"/>
              </a:defRPr>
            </a:pPr>
            <a:r>
              <a:t>RAW API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306324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24BE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5456" y="2743200"/>
            <a:ext cx="1645920" cy="1024128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05456" y="2743200"/>
            <a:ext cx="1645920" cy="64008"/>
          </a:xfrm>
          <a:prstGeom prst="rect">
            <a:avLst/>
          </a:prstGeom>
          <a:solidFill>
            <a:srgbClr val="6B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3017520"/>
            <a:ext cx="1426464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00" b="1">
                <a:solidFill>
                  <a:srgbClr val="F6F9FC"/>
                </a:solidFill>
                <a:latin typeface="Aptos"/>
              </a:defRPr>
            </a:pPr>
            <a:r>
              <a:t>VALIDATE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9664" y="306324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6BDCE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3984" y="2743200"/>
            <a:ext cx="1645920" cy="1024128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43984" y="2743200"/>
            <a:ext cx="1645920" cy="64008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017520"/>
            <a:ext cx="1426464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00" b="1">
                <a:solidFill>
                  <a:srgbClr val="F6F9FC"/>
                </a:solidFill>
                <a:latin typeface="Aptos"/>
              </a:defRPr>
            </a:pPr>
            <a:r>
              <a:t>EXTRACT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306324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FFB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2512" y="2743200"/>
            <a:ext cx="1645920" cy="1024128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82512" y="2743200"/>
            <a:ext cx="1645920" cy="6400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017520"/>
            <a:ext cx="1426464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00" b="1">
                <a:solidFill>
                  <a:srgbClr val="F6F9FC"/>
                </a:solidFill>
                <a:latin typeface="Aptos"/>
              </a:defRPr>
            </a:pPr>
            <a:r>
              <a:t>NORMALIZE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06324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24BE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2743200"/>
            <a:ext cx="1645920" cy="1024128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2743200"/>
            <a:ext cx="1645920" cy="64008"/>
          </a:xfrm>
          <a:prstGeom prst="rect">
            <a:avLst/>
          </a:prstGeom>
          <a:solidFill>
            <a:srgbClr val="6B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7" y="3017520"/>
            <a:ext cx="1426464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00" b="1">
                <a:solidFill>
                  <a:srgbClr val="F6F9FC"/>
                </a:solidFill>
                <a:latin typeface="Aptos"/>
              </a:defRPr>
            </a:pPr>
            <a:r>
              <a:t>DASHBOARD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5248" y="3063240"/>
            <a:ext cx="228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6BDCE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59568" y="2743200"/>
            <a:ext cx="1645920" cy="1024128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59568" y="2743200"/>
            <a:ext cx="1645920" cy="64008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9296" y="3017520"/>
            <a:ext cx="1426464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00" b="1">
                <a:solidFill>
                  <a:srgbClr val="F6F9FC"/>
                </a:solidFill>
                <a:latin typeface="Aptos"/>
              </a:defRPr>
            </a:pPr>
            <a:r>
              <a:t>RENDER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434840"/>
            <a:ext cx="4663440" cy="96012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434840"/>
            <a:ext cx="64008" cy="960120"/>
          </a:xfrm>
          <a:prstGeom prst="rect">
            <a:avLst/>
          </a:prstGeom>
          <a:solidFill>
            <a:srgbClr val="EE74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4590288"/>
            <a:ext cx="42976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EE747B"/>
                </a:solidFill>
                <a:latin typeface="Aptos"/>
              </a:defRPr>
            </a:pPr>
            <a:r>
              <a:t>MISSING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5056631"/>
            <a:ext cx="427939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Show N/A / unavailable — not zero.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97880" y="4434840"/>
            <a:ext cx="4937760" cy="96012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97880" y="4434840"/>
            <a:ext cx="64008" cy="960120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8" y="4590288"/>
            <a:ext cx="45720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B15C"/>
                </a:solidFill>
                <a:latin typeface="Aptos"/>
              </a:defRPr>
            </a:pPr>
            <a:r>
              <a:t>AQI 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9048" y="5056631"/>
            <a:ext cx="45537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Choose and label one scale; do not mix US AQI and European AQI.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4BEB1"/>
                </a:solidFill>
                <a:latin typeface="Aptos"/>
              </a:defRPr>
            </a:pPr>
            <a:r>
              <a:t>10 • SOFTWARE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6F9FC"/>
                </a:solidFill>
                <a:latin typeface="Aptos"/>
              </a:defRPr>
            </a:pPr>
            <a:r>
              <a:t>Separation of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Small, focused functions make the system easier to explain and extend.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1005840" cy="4114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4C3D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429000" cy="210312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64008" cy="2103120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4BEB1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70632"/>
            <a:ext cx="3044952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6F9FC"/>
                </a:solidFill>
                <a:latin typeface="Aptos"/>
              </a:defRPr>
            </a:pPr>
            <a:r>
              <a:t>Search form</a:t>
            </a:r>
            <a:br/>
            <a:r>
              <a:t>Loading / error states</a:t>
            </a:r>
            <a:br/>
            <a:r>
              <a:t>Cards, forecast and charts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29000" cy="210312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64008" cy="2103120"/>
          </a:xfrm>
          <a:prstGeom prst="rect">
            <a:avLst/>
          </a:prstGeom>
          <a:solidFill>
            <a:srgbClr val="6B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304288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6BDCE6"/>
                </a:solidFill>
                <a:latin typeface="Aptos"/>
              </a:defRPr>
            </a:pPr>
            <a:r>
              <a:t>FLASK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70632"/>
            <a:ext cx="3044952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6F9FC"/>
                </a:solidFill>
                <a:latin typeface="Aptos"/>
              </a:defRPr>
            </a:pPr>
            <a:r>
              <a:t>Validate request</a:t>
            </a:r>
            <a:br/>
            <a:r>
              <a:t>Coordinate API calls</a:t>
            </a:r>
            <a:br/>
            <a:r>
              <a:t>Return HTML or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429000" cy="210312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48840"/>
            <a:ext cx="64008" cy="2103120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304288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B15C"/>
                </a:solidFill>
                <a:latin typeface="Aptos"/>
              </a:defRPr>
            </a:pPr>
            <a:r>
              <a:t>SERVICE FUNCTIONS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770632"/>
            <a:ext cx="3044952" cy="13715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F6F9FC"/>
                </a:solidFill>
                <a:latin typeface="Aptos"/>
              </a:defRPr>
            </a:pPr>
            <a:r>
              <a:t>Geocode city</a:t>
            </a:r>
            <a:br/>
            <a:r>
              <a:t>Fetch weather / air quality</a:t>
            </a:r>
            <a:br/>
            <a:r>
              <a:t>Normalize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3776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6F9FC"/>
                </a:solidFill>
                <a:latin typeface="Aptos"/>
              </a:defRPr>
            </a:pPr>
            <a:r>
              <a:t>Routes:  GET /  → HTML     |     GET /api/dashboard?city=...  → JSON or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B4C3D5"/>
                </a:solidFill>
                <a:latin typeface="Aptos"/>
              </a:defRPr>
            </a:pPr>
            <a:r>
              <a:t>Plain functions and dictionaries are sufficient for this first version; a class layer can be added if complexity grows.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4BEB1"/>
                </a:solidFill>
                <a:latin typeface="Aptos"/>
              </a:defRPr>
            </a:pPr>
            <a:r>
              <a:t>11 •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6F9FC"/>
                </a:solidFill>
                <a:latin typeface="Aptos"/>
              </a:defRPr>
            </a:pPr>
            <a:r>
              <a:t>Testing the expected and unexpected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The report proposes these test cases; results should only be claimed after running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1005840" cy="4114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4C3D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2880360" cy="429768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66544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7BDCAA"/>
                </a:solidFill>
                <a:latin typeface="Aptos"/>
              </a:defRPr>
            </a:pPr>
            <a:r>
              <a:t>Valid city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66544"/>
            <a:ext cx="6949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6F9FC"/>
                </a:solidFill>
                <a:latin typeface="Aptos"/>
              </a:defRPr>
            </a:pPr>
            <a:r>
              <a:t>Trim spaces and return cleaned city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60320"/>
            <a:ext cx="2880360" cy="429768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3347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EE747B"/>
                </a:solidFill>
                <a:latin typeface="Aptos"/>
              </a:defRPr>
            </a:pPr>
            <a:r>
              <a:t>Empty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33472"/>
            <a:ext cx="6949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6F9FC"/>
                </a:solidFill>
                <a:latin typeface="Aptos"/>
              </a:defRPr>
            </a:pPr>
            <a:r>
              <a:t>Raise / show validation 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27248"/>
            <a:ext cx="2880360" cy="429768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00400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FFB15C"/>
                </a:solidFill>
                <a:latin typeface="Aptos"/>
              </a:defRPr>
            </a:pPr>
            <a:r>
              <a:t>Unknown 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200400"/>
            <a:ext cx="6949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6F9FC"/>
                </a:solidFill>
                <a:latin typeface="Aptos"/>
              </a:defRPr>
            </a:pPr>
            <a:r>
              <a:t>Show location-not-found message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94176"/>
            <a:ext cx="2880360" cy="429768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767328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6BDCE6"/>
                </a:solidFill>
                <a:latin typeface="Aptos"/>
              </a:defRPr>
            </a:pPr>
            <a:r>
              <a:t>Missing pollutant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767328"/>
            <a:ext cx="6949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6F9FC"/>
                </a:solidFill>
                <a:latin typeface="Aptos"/>
              </a:defRPr>
            </a:pPr>
            <a:r>
              <a:t>Display as unavailable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61104"/>
            <a:ext cx="2880360" cy="429768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34256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EE747B"/>
                </a:solidFill>
                <a:latin typeface="Aptos"/>
              </a:defRPr>
            </a:pPr>
            <a:r>
              <a:t>API timeout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334256"/>
            <a:ext cx="6949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6F9FC"/>
                </a:solidFill>
                <a:latin typeface="Aptos"/>
              </a:defRPr>
            </a:pPr>
            <a:r>
              <a:t>Show useful error; server stays responsive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28032"/>
            <a:ext cx="2880360" cy="429768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901184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24BEB1"/>
                </a:solidFill>
                <a:latin typeface="Aptos"/>
              </a:defRPr>
            </a:pPr>
            <a:r>
              <a:t>UI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901184"/>
            <a:ext cx="6949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F6F9FC"/>
                </a:solidFill>
                <a:latin typeface="Aptos"/>
              </a:defRPr>
            </a:pPr>
            <a:r>
              <a:t>Loading state, then updated cards or readable 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Suggested tools: pytest for tests; Ruff for linting and formatting. This slide does not claim tests have passed.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4BEB1"/>
                </a:solidFill>
                <a:latin typeface="Aptos"/>
              </a:defRPr>
            </a:pPr>
            <a:r>
              <a:t>12 • AI-ASSISTED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6F9FC"/>
                </a:solidFill>
                <a:latin typeface="Aptos"/>
              </a:defRPr>
            </a:pPr>
            <a:r>
              <a:t>AI can help — verification still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Specification-first development keeps generated code aligned with requirements.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1005840" cy="4114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4C3D5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383280" cy="224028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64008" cy="2240280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04288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4BEB1"/>
                </a:solidFill>
                <a:latin typeface="Aptos"/>
              </a:defRPr>
            </a:pPr>
            <a:r>
              <a:t>USE AI TO DRAFT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770632"/>
            <a:ext cx="2999232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HTML layout</a:t>
            </a:r>
            <a:br/>
            <a:r>
              <a:t>API request patterns</a:t>
            </a:r>
            <a:br/>
            <a:r>
              <a:t>Chart rendering</a:t>
            </a:r>
            <a:br/>
            <a:r>
              <a:t>Test scaffolding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383280" cy="224028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64008" cy="2240280"/>
          </a:xfrm>
          <a:prstGeom prst="rect">
            <a:avLst/>
          </a:prstGeom>
          <a:solidFill>
            <a:srgbClr val="6B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304288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6BDCE6"/>
                </a:solidFill>
                <a:latin typeface="Aptos"/>
              </a:defRPr>
            </a:pPr>
            <a:r>
              <a:t>VERIFY THE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70632"/>
            <a:ext cx="2999232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Check endpoint parameters</a:t>
            </a:r>
            <a:br/>
            <a:r>
              <a:t>Confirm units and AQI scale</a:t>
            </a:r>
            <a:br/>
            <a:r>
              <a:t>Test timeouts and unknown cities</a:t>
            </a:r>
            <a:br/>
            <a:r>
              <a:t>Review safe rendering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48840"/>
            <a:ext cx="3383280" cy="224028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148840"/>
            <a:ext cx="64008" cy="2240280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2304288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B15C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770632"/>
            <a:ext cx="2999232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t>Do not share credentials</a:t>
            </a:r>
            <a:br/>
            <a:r>
              <a:t>Understand the generated code</a:t>
            </a:r>
            <a:br/>
            <a:r>
              <a:t>Disclose assistance as required</a:t>
            </a:r>
            <a:br/>
            <a:r>
              <a:t>Run the app and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058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6F9FC"/>
                </a:solidFill>
                <a:latin typeface="Aptos"/>
              </a:defRPr>
            </a:pPr>
            <a:r>
              <a:t>AI-generated code is a draft, not proof of correctness.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4BEB1"/>
                </a:solidFill>
                <a:latin typeface="Aptos"/>
              </a:defRPr>
            </a:pPr>
            <a:r>
              <a:t>13 •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6F9FC"/>
                </a:solidFill>
                <a:latin typeface="Aptos"/>
              </a:defRPr>
            </a:pPr>
            <a:r>
              <a:t>What the current version does not guarantee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The dashboard depends on external data and API coverage.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1005840" cy="4114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4C3D5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10424160" cy="3474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Internet connectivity and third-party API availability are required.</a:t>
            </a:r>
          </a:p>
          <a:p>
            <a:pPr>
              <a:spcAft>
                <a:spcPts val="12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City names can be ambiguous; region/country labels help disambiguate.</a:t>
            </a:r>
          </a:p>
          <a:p>
            <a:pPr>
              <a:spcAft>
                <a:spcPts val="12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Some pollutant fields may not be available for every location.</a:t>
            </a:r>
          </a:p>
          <a:p>
            <a:pPr>
              <a:spcAft>
                <a:spcPts val="12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Modelled air-quality data may differ from nearby physical sensor readings.</a:t>
            </a:r>
          </a:p>
          <a:p>
            <a:pPr>
              <a:spcAft>
                <a:spcPts val="12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No historical database or saved user preferences in the initial version.</a:t>
            </a:r>
          </a:p>
          <a:p>
            <a:pPr>
              <a:spcAft>
                <a:spcPts val="1200"/>
              </a:spcAft>
              <a:defRPr sz="1700">
                <a:solidFill>
                  <a:srgbClr val="F6F9FC"/>
                </a:solidFill>
                <a:latin typeface="Aptos"/>
              </a:defRPr>
            </a:pPr>
            <a:r>
              <a:t>•  Flask development server is not intended for production hosting.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FB15C"/>
                </a:solidFill>
                <a:latin typeface="Aptos"/>
              </a:defRPr>
            </a:pPr>
            <a:r>
              <a:t>Design rule: label units and time context clearly, and never fabricate missing values.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24BEB1"/>
                </a:solidFill>
                <a:latin typeface="Aptos"/>
              </a:defRPr>
            </a:pPr>
            <a:r>
              <a:t>14 •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6F9FC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B4C3D5"/>
                </a:solidFill>
                <a:latin typeface="Aptos"/>
              </a:defRPr>
            </a:pPr>
            <a:r>
              <a:t>A roadmap that builds on the existing architecture.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1005840" cy="41148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B4C3D5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5074920" cy="96012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64008" cy="960120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212848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4BEB1"/>
                </a:solidFill>
                <a:latin typeface="Aptos"/>
              </a:defRPr>
            </a:pPr>
            <a:r>
              <a:t>Caching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679192"/>
            <a:ext cx="469087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Reduce repeated API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57400"/>
            <a:ext cx="5074920" cy="96012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057400"/>
            <a:ext cx="64008" cy="960120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212848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4BEB1"/>
                </a:solidFill>
                <a:latin typeface="Aptos"/>
              </a:defRPr>
            </a:pPr>
            <a:r>
              <a:t>Saved cities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679192"/>
            <a:ext cx="469087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Compare multiple 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64408"/>
            <a:ext cx="5074920" cy="96012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264408"/>
            <a:ext cx="64008" cy="960120"/>
          </a:xfrm>
          <a:prstGeom prst="rect">
            <a:avLst/>
          </a:prstGeom>
          <a:solidFill>
            <a:srgbClr val="6B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419856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6BDCE6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886200"/>
            <a:ext cx="469087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Store readings with a clear retention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264408"/>
            <a:ext cx="5074920" cy="96012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264408"/>
            <a:ext cx="64008" cy="960120"/>
          </a:xfrm>
          <a:prstGeom prst="rect">
            <a:avLst/>
          </a:prstGeom>
          <a:solidFill>
            <a:srgbClr val="6B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3419856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6BDCE6"/>
                </a:solidFill>
                <a:latin typeface="Aptos"/>
              </a:defRPr>
            </a:pPr>
            <a:r>
              <a:t>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886200"/>
            <a:ext cx="469087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Optional browser geolocation with permission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471416"/>
            <a:ext cx="5074920" cy="96012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471416"/>
            <a:ext cx="64008" cy="960120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626864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B15C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093208"/>
            <a:ext cx="469087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Improve charts and accessibility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471416"/>
            <a:ext cx="5074920" cy="96012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471416"/>
            <a:ext cx="64008" cy="960120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4626864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FB15C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5093208"/>
            <a:ext cx="469087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Production WSGI server, monitoring and request limits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24BEB1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000" b="1">
                <a:solidFill>
                  <a:srgbClr val="F6F9FC"/>
                </a:solidFill>
                <a:latin typeface="Aptos"/>
              </a:defRPr>
            </a:pPr>
            <a:r>
              <a:t>One dashboard. Two data domains.</a:t>
            </a:r>
            <a:br/>
            <a:r>
              <a:t>A clear engineering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23160"/>
            <a:ext cx="104241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B4C3D5"/>
                </a:solidFill>
                <a:latin typeface="Aptos"/>
              </a:defRPr>
            </a:pPr>
            <a:r>
              <a:t>The project demonstrates computational thinking through city validation, API integration, structured data processing, a single-page interface, error handling and a testable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9000"/>
            <a:ext cx="1051560" cy="54864"/>
          </a:xfrm>
          <a:prstGeom prst="rect">
            <a:avLst/>
          </a:prstGeom>
          <a:solidFill>
            <a:srgbClr val="24BE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6BDCE6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24128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4C3D5"/>
                </a:solidFill>
                <a:latin typeface="Aptos"/>
              </a:defRPr>
            </a:pPr>
            <a:r>
              <a:t>•  Python documentation — docs.python.org/3/</a:t>
            </a:r>
          </a:p>
          <a:p>
            <a:pPr>
              <a:spcAft>
                <a:spcPts val="500"/>
              </a:spcAft>
              <a:defRPr sz="1300">
                <a:solidFill>
                  <a:srgbClr val="B4C3D5"/>
                </a:solidFill>
                <a:latin typeface="Aptos"/>
              </a:defRPr>
            </a:pPr>
            <a:r>
              <a:t>•  Flask documentation — flask.palletsprojects.com/</a:t>
            </a:r>
          </a:p>
          <a:p>
            <a:pPr>
              <a:spcAft>
                <a:spcPts val="500"/>
              </a:spcAft>
              <a:defRPr sz="1300">
                <a:solidFill>
                  <a:srgbClr val="B4C3D5"/>
                </a:solidFill>
                <a:latin typeface="Aptos"/>
              </a:defRPr>
            </a:pPr>
            <a:r>
              <a:t>•  Requests — requests.readthedocs.io/</a:t>
            </a:r>
          </a:p>
          <a:p>
            <a:pPr>
              <a:spcAft>
                <a:spcPts val="500"/>
              </a:spcAft>
              <a:defRPr sz="1300">
                <a:solidFill>
                  <a:srgbClr val="B4C3D5"/>
                </a:solidFill>
                <a:latin typeface="Aptos"/>
              </a:defRPr>
            </a:pPr>
            <a:r>
              <a:t>•  Open-Meteo Weather, Air Quality &amp; Geocoding APIs</a:t>
            </a:r>
          </a:p>
          <a:p>
            <a:pPr>
              <a:spcAft>
                <a:spcPts val="500"/>
              </a:spcAft>
              <a:defRPr sz="1300">
                <a:solidFill>
                  <a:srgbClr val="B4C3D5"/>
                </a:solidFill>
                <a:latin typeface="Aptos"/>
              </a:defRPr>
            </a:pPr>
            <a:r>
              <a:t>•  pytest — docs.pytest.org/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44768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4BEB1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